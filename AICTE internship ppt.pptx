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Bold" charset="1" panose="020B0802020202020204"/>
      <p:regular r:id="rId17"/>
    </p:embeddedFont>
    <p:embeddedFont>
      <p:font typeface="Arial" charset="1" panose="020B0502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https://www.freepik.com/" TargetMode="External" Type="http://schemas.openxmlformats.org/officeDocument/2006/relationships/hyperlink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https://github.com/arcchhh/smart-irrigation_AICTE_shell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4" id="14" descr="A person sitting at a desk with a computer  Description automatically generat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91575" y="857250"/>
            <a:ext cx="7048500" cy="1504950"/>
            <a:chOff x="0" y="0"/>
            <a:chExt cx="9398000" cy="2006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9347200" cy="1955800"/>
            </a:xfrm>
            <a:custGeom>
              <a:avLst/>
              <a:gdLst/>
              <a:ahLst/>
              <a:cxnLst/>
              <a:rect r="r" b="b" t="t" l="l"/>
              <a:pathLst>
                <a:path h="1955800" w="9347200">
                  <a:moveTo>
                    <a:pt x="0" y="326009"/>
                  </a:moveTo>
                  <a:cubicBezTo>
                    <a:pt x="0" y="145923"/>
                    <a:pt x="148971" y="0"/>
                    <a:pt x="332613" y="0"/>
                  </a:cubicBezTo>
                  <a:lnTo>
                    <a:pt x="9014587" y="0"/>
                  </a:lnTo>
                  <a:cubicBezTo>
                    <a:pt x="9198229" y="0"/>
                    <a:pt x="9347200" y="145923"/>
                    <a:pt x="9347200" y="326009"/>
                  </a:cubicBezTo>
                  <a:lnTo>
                    <a:pt x="9347200" y="1629791"/>
                  </a:lnTo>
                  <a:cubicBezTo>
                    <a:pt x="9347200" y="1809877"/>
                    <a:pt x="9198229" y="1955800"/>
                    <a:pt x="9014587" y="1955800"/>
                  </a:cubicBezTo>
                  <a:lnTo>
                    <a:pt x="332613" y="1955800"/>
                  </a:lnTo>
                  <a:cubicBezTo>
                    <a:pt x="148971" y="1955800"/>
                    <a:pt x="0" y="1809877"/>
                    <a:pt x="0" y="1629791"/>
                  </a:cubicBezTo>
                  <a:close/>
                </a:path>
              </a:pathLst>
            </a:custGeom>
            <a:solidFill>
              <a:srgbClr val="EBEEF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980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9398000">
                  <a:moveTo>
                    <a:pt x="0" y="351409"/>
                  </a:moveTo>
                  <a:cubicBezTo>
                    <a:pt x="0" y="156845"/>
                    <a:pt x="160782" y="0"/>
                    <a:pt x="358013" y="0"/>
                  </a:cubicBezTo>
                  <a:lnTo>
                    <a:pt x="9039987" y="0"/>
                  </a:lnTo>
                  <a:lnTo>
                    <a:pt x="9039987" y="25400"/>
                  </a:lnTo>
                  <a:lnTo>
                    <a:pt x="9039987" y="0"/>
                  </a:lnTo>
                  <a:cubicBezTo>
                    <a:pt x="9237218" y="0"/>
                    <a:pt x="9398000" y="156845"/>
                    <a:pt x="9398000" y="351409"/>
                  </a:cubicBezTo>
                  <a:lnTo>
                    <a:pt x="9372600" y="351409"/>
                  </a:lnTo>
                  <a:lnTo>
                    <a:pt x="9398000" y="351409"/>
                  </a:lnTo>
                  <a:lnTo>
                    <a:pt x="9398000" y="1655191"/>
                  </a:lnTo>
                  <a:lnTo>
                    <a:pt x="9372600" y="1655191"/>
                  </a:lnTo>
                  <a:lnTo>
                    <a:pt x="9398000" y="1655191"/>
                  </a:lnTo>
                  <a:cubicBezTo>
                    <a:pt x="9398000" y="1849755"/>
                    <a:pt x="9237218" y="2006600"/>
                    <a:pt x="9039987" y="2006600"/>
                  </a:cubicBezTo>
                  <a:lnTo>
                    <a:pt x="9039987" y="1981200"/>
                  </a:lnTo>
                  <a:lnTo>
                    <a:pt x="9039987" y="2006600"/>
                  </a:lnTo>
                  <a:lnTo>
                    <a:pt x="358013" y="2006600"/>
                  </a:lnTo>
                  <a:lnTo>
                    <a:pt x="358013" y="1981200"/>
                  </a:lnTo>
                  <a:lnTo>
                    <a:pt x="358013" y="2006600"/>
                  </a:lnTo>
                  <a:cubicBezTo>
                    <a:pt x="160782" y="2006600"/>
                    <a:pt x="0" y="1849755"/>
                    <a:pt x="0" y="1655191"/>
                  </a:cubicBezTo>
                  <a:lnTo>
                    <a:pt x="0" y="351409"/>
                  </a:lnTo>
                  <a:lnTo>
                    <a:pt x="25400" y="351409"/>
                  </a:lnTo>
                  <a:lnTo>
                    <a:pt x="0" y="351409"/>
                  </a:lnTo>
                  <a:moveTo>
                    <a:pt x="50800" y="351409"/>
                  </a:moveTo>
                  <a:lnTo>
                    <a:pt x="50800" y="1655191"/>
                  </a:lnTo>
                  <a:lnTo>
                    <a:pt x="25400" y="1655191"/>
                  </a:lnTo>
                  <a:lnTo>
                    <a:pt x="50800" y="1655191"/>
                  </a:lnTo>
                  <a:cubicBezTo>
                    <a:pt x="50800" y="1820799"/>
                    <a:pt x="187833" y="1955800"/>
                    <a:pt x="358013" y="1955800"/>
                  </a:cubicBezTo>
                  <a:lnTo>
                    <a:pt x="9039987" y="1955800"/>
                  </a:lnTo>
                  <a:cubicBezTo>
                    <a:pt x="9210167" y="1955800"/>
                    <a:pt x="9347200" y="1820799"/>
                    <a:pt x="9347200" y="1655191"/>
                  </a:cubicBezTo>
                  <a:lnTo>
                    <a:pt x="9347200" y="351409"/>
                  </a:lnTo>
                  <a:cubicBezTo>
                    <a:pt x="9347200" y="185801"/>
                    <a:pt x="9210167" y="50800"/>
                    <a:pt x="9039987" y="50800"/>
                  </a:cubicBezTo>
                  <a:lnTo>
                    <a:pt x="358013" y="50800"/>
                  </a:lnTo>
                  <a:lnTo>
                    <a:pt x="358013" y="25400"/>
                  </a:lnTo>
                  <a:lnTo>
                    <a:pt x="358013" y="50800"/>
                  </a:lnTo>
                  <a:cubicBezTo>
                    <a:pt x="187833" y="50800"/>
                    <a:pt x="50800" y="185801"/>
                    <a:pt x="50800" y="351409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65963" y="4218849"/>
            <a:ext cx="1010339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5"/>
              </a:lnSpc>
            </a:pPr>
            <a:r>
              <a:rPr lang="en-US" sz="199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SMART/AUTOMATE IRRIGATION USING</a:t>
            </a:r>
          </a:p>
          <a:p>
            <a:pPr algn="just">
              <a:lnSpc>
                <a:spcPts val="2395"/>
              </a:lnSpc>
            </a:pPr>
            <a:r>
              <a:rPr lang="en-US" sz="199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SOIL MOISTURE AND WEATHER DATA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401129" y="1303294"/>
            <a:ext cx="1894735" cy="616250"/>
            <a:chOff x="0" y="0"/>
            <a:chExt cx="2526314" cy="821667"/>
          </a:xfrm>
        </p:grpSpPr>
        <p:sp>
          <p:nvSpPr>
            <p:cNvPr name="Freeform 20" id="20" descr="A close up of a logo  Description automatically generated"/>
            <p:cNvSpPr/>
            <p:nvPr/>
          </p:nvSpPr>
          <p:spPr>
            <a:xfrm flipH="false" flipV="false" rot="0">
              <a:off x="0" y="0"/>
              <a:ext cx="2526284" cy="821690"/>
            </a:xfrm>
            <a:custGeom>
              <a:avLst/>
              <a:gdLst/>
              <a:ahLst/>
              <a:cxnLst/>
              <a:rect r="r" b="b" t="t" l="l"/>
              <a:pathLst>
                <a:path h="821690" w="2526284">
                  <a:moveTo>
                    <a:pt x="0" y="0"/>
                  </a:moveTo>
                  <a:lnTo>
                    <a:pt x="2526284" y="0"/>
                  </a:lnTo>
                  <a:lnTo>
                    <a:pt x="2526284" y="821690"/>
                  </a:lnTo>
                  <a:lnTo>
                    <a:pt x="0" y="82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" r="-1" b="-83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35784" y="1113136"/>
            <a:ext cx="1185239" cy="996567"/>
            <a:chOff x="0" y="0"/>
            <a:chExt cx="1580318" cy="1328756"/>
          </a:xfrm>
        </p:grpSpPr>
        <p:sp>
          <p:nvSpPr>
            <p:cNvPr name="Freeform 22" id="22" descr="A yellow and red shell logo  Description automatically generated"/>
            <p:cNvSpPr/>
            <p:nvPr/>
          </p:nvSpPr>
          <p:spPr>
            <a:xfrm flipH="false" flipV="false" rot="0">
              <a:off x="0" y="0"/>
              <a:ext cx="1580261" cy="1328801"/>
            </a:xfrm>
            <a:custGeom>
              <a:avLst/>
              <a:gdLst/>
              <a:ahLst/>
              <a:cxnLst/>
              <a:rect r="r" b="b" t="t" l="l"/>
              <a:pathLst>
                <a:path h="1328801" w="1580261">
                  <a:moveTo>
                    <a:pt x="0" y="0"/>
                  </a:moveTo>
                  <a:lnTo>
                    <a:pt x="1580261" y="0"/>
                  </a:lnTo>
                  <a:lnTo>
                    <a:pt x="1580261" y="1328801"/>
                  </a:lnTo>
                  <a:lnTo>
                    <a:pt x="0" y="132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3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934241" y="5348288"/>
            <a:ext cx="262259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NAME:ARCHANA J DEV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34241" y="5819775"/>
            <a:ext cx="536162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AICTE St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udent ID: STU6837174faa7e41748440911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43679" y="6324600"/>
            <a:ext cx="67920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AICTE</a:t>
            </a: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Internship ID: INTERNSHIP_175040797468551b2636342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79306" y="1437851"/>
            <a:ext cx="3796454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Learning Objectives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1154" y="9210614"/>
            <a:ext cx="1010926" cy="36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Source 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2234" y="9210614"/>
            <a:ext cx="2580646" cy="36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 tooltip="https://www.freepik.com/"/>
              </a:rPr>
              <a:t>www.freepik.com/</a:t>
            </a:r>
          </a:p>
        </p:txBody>
      </p:sp>
      <p:sp>
        <p:nvSpPr>
          <p:cNvPr name="AutoShape 16" id="16"/>
          <p:cNvSpPr/>
          <p:nvPr/>
        </p:nvSpPr>
        <p:spPr>
          <a:xfrm rot="3577">
            <a:off x="-9530" y="9083040"/>
            <a:ext cx="1830706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018520" y="2164080"/>
            <a:ext cx="6751320" cy="6949440"/>
            <a:chOff x="0" y="0"/>
            <a:chExt cx="9001760" cy="9265920"/>
          </a:xfrm>
        </p:grpSpPr>
        <p:sp>
          <p:nvSpPr>
            <p:cNvPr name="Freeform 18" id="18" descr="A ladder leading to a large yellow circle  Description automatically generated"/>
            <p:cNvSpPr/>
            <p:nvPr/>
          </p:nvSpPr>
          <p:spPr>
            <a:xfrm flipH="false" flipV="false" rot="0">
              <a:off x="0" y="0"/>
              <a:ext cx="90017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9001760">
                  <a:moveTo>
                    <a:pt x="0" y="0"/>
                  </a:moveTo>
                  <a:lnTo>
                    <a:pt x="9001760" y="0"/>
                  </a:lnTo>
                  <a:lnTo>
                    <a:pt x="9001760" y="9265920"/>
                  </a:lnTo>
                  <a:lnTo>
                    <a:pt x="0" y="926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85000"/>
              </a:blip>
              <a:stretch>
                <a:fillRect l="-18960" t="-6535" r="-18805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350240" y="4693859"/>
            <a:ext cx="2072642" cy="95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5614" y="2384725"/>
            <a:ext cx="8739307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 Irrigation Decisions 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Predict which sprinklers sh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ould be ON or OFF based on sensor inputs.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Utilize Historical Data for Smart Predictions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Train a machine learning model using past sensor readings and sprinkler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actions.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Provide an Interactive Web Interface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Allow users to simulate sensor values via sliders and get instant predictions.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Optimize Water Usage in Agriculture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Ensure irrigation is only triggered when needed, reducing water wastage.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5191" y="1580541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Tools and Technology used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5191" y="2464788"/>
            <a:ext cx="6854666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ogramming Language &amp; Environment 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Python 3.12.8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Jupyter Notebook (for model training)  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VS Code (for coding &amp; Streamlit app)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Machine Learning Algorithm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RandomForestClassifier inside MultiOutputClassifier 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(for multi-sprinkler prediction)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Libraries Used</a:t>
            </a:r>
          </a:p>
          <a:p>
            <a:pPr algn="just">
              <a:lnSpc>
                <a:spcPts val="2160"/>
              </a:lnSpc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pandas, numpy → Data handling &amp; preprocessing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scikit-learn → Model training, normalization, and evaluation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joblib → Model saving and loading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streamlit → Web app interface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Supporting Tools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MinMaxScaler → Normalizing sensor data (0 to 1)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Joblib .pkl file → Stores trained model for predictions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3974" y="1501029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Methodology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542" y="2258633"/>
            <a:ext cx="11458695" cy="750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Understanding &amp; Approach</a:t>
            </a:r>
          </a:p>
          <a:p>
            <a:pPr algn="just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Aim: Predict sprinkler ON/OFF using historical sensor data to simulate a smart irrigation system.</a:t>
            </a:r>
          </a:p>
          <a:p>
            <a:pPr algn="just">
              <a:lnSpc>
                <a:spcPts val="2160"/>
              </a:lnSpc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Collection</a:t>
            </a:r>
          </a:p>
          <a:p>
            <a:pPr algn="just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Used the historical irrigation dataset containing 20 sensor readings and 3 sprinkler outputs (ON/OFF).</a:t>
            </a:r>
          </a:p>
          <a:p>
            <a:pPr algn="just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Preprocessing</a:t>
            </a:r>
          </a:p>
          <a:p>
            <a:pPr algn="just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Removed unnecessary columns.</a:t>
            </a:r>
          </a:p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Normalized sensor values between 0 and 1 using MinMaxScaler.</a:t>
            </a:r>
          </a:p>
          <a:p>
            <a:pPr algn="just">
              <a:lnSpc>
                <a:spcPts val="2160"/>
              </a:lnSpc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Exploratory Data Analysis (EDA)</a:t>
            </a:r>
          </a:p>
          <a:p>
            <a:pPr algn="just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Checked dataset structure with .head() and .info()</a:t>
            </a:r>
          </a:p>
          <a:p>
            <a:pPr algn="just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Verified class balance and sensor value ranges.</a:t>
            </a:r>
          </a:p>
          <a:p>
            <a:pPr algn="just">
              <a:lnSpc>
                <a:spcPts val="2160"/>
              </a:lnSpc>
            </a:pPr>
          </a:p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 Training &amp; Evaluation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Split dataset int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 training (80%) and testing (20%) sets.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Trained RandomForestClassifier inside MultiOutputClassifier for multi-sprinkler prediction.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Evaluated using classification report.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 Saving &amp; Integration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Saved the trained model using joblib as Farm_Irrigation_System.pkl.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Integrated it into the Streamlit web app (app.py).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App Development &amp; Deployment (Simulation)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Created Streamlit app with 20 sliders for sensor simulation.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Predict button displays sprinkler ON/OFF with colored emojis.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Launched locally using streamlit run app.py.</a:t>
            </a:r>
          </a:p>
          <a:p>
            <a:pPr algn="just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74096" y="1560663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Statement: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386" y="2382326"/>
            <a:ext cx="11313319" cy="430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Uncertainty in Irrigation Timing</a:t>
            </a:r>
          </a:p>
          <a:p>
            <a:pPr algn="just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sz="18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Farmers often don’t know the exact time to water crops, leading to overwatering or underwatering.</a:t>
            </a:r>
          </a:p>
          <a:p>
            <a:pPr algn="just">
              <a:lnSpc>
                <a:spcPts val="2160"/>
              </a:lnSpc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Manual Monitoring of Soil &amp; Envir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onment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Checking soil moisture, temperature, and other conditions manually is time-consuming and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inaccurate.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Water Wastage in Traditional Farming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Continuous or untimely irrigation causes unnecessary water usage, reducing efficiency.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Lack of Data-Driven Decision Making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Farmers rarely use historical sensor data to optimize irrigation schedules.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Need for an Automated Decision System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system is required to analyze environmental data and suggest which sprinklers should be ON/OFF.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74096" y="1560663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Solution: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6829" y="2361710"/>
            <a:ext cx="14065330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Irrigation System equipped with 20 environmental sens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ors and 3 automated sprinkler pumps to assist in crop watering.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Machine Learning model predicts which sprinklers should be ON/OFF based on the 20 sensor values.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Streamlit simulation app with sliders for all 20 sensors allows users to simulate environmental conditions.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irrigation decision-making reduces manual effort and optimizes water usage efficiently.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74096" y="4981085"/>
            <a:ext cx="1721287" cy="38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GITHUB LINK: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45971" y="5028710"/>
            <a:ext cx="67980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  <a:spcBef>
                <a:spcPct val="0"/>
              </a:spcBef>
            </a:pPr>
            <a:r>
              <a:rPr lang="en-US" b="true" sz="184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github.com/arcchhh/smart-irrigation_AICTE_shell"/>
              </a:rPr>
              <a:t>https://github.com/arcchhh/smart-irrigation_AICTE_shell.git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12507" y="3055473"/>
            <a:ext cx="6762679" cy="5060103"/>
          </a:xfrm>
          <a:custGeom>
            <a:avLst/>
            <a:gdLst/>
            <a:ahLst/>
            <a:cxnLst/>
            <a:rect r="r" b="b" t="t" l="l"/>
            <a:pathLst>
              <a:path h="5060103" w="6762679">
                <a:moveTo>
                  <a:pt x="0" y="0"/>
                </a:moveTo>
                <a:lnTo>
                  <a:pt x="6762679" y="0"/>
                </a:lnTo>
                <a:lnTo>
                  <a:pt x="6762679" y="5060103"/>
                </a:lnTo>
                <a:lnTo>
                  <a:pt x="0" y="5060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08056" y="3055473"/>
            <a:ext cx="7562425" cy="5039487"/>
          </a:xfrm>
          <a:custGeom>
            <a:avLst/>
            <a:gdLst/>
            <a:ahLst/>
            <a:cxnLst/>
            <a:rect r="r" b="b" t="t" l="l"/>
            <a:pathLst>
              <a:path h="5039487" w="7562425">
                <a:moveTo>
                  <a:pt x="0" y="0"/>
                </a:moveTo>
                <a:lnTo>
                  <a:pt x="7562424" y="0"/>
                </a:lnTo>
                <a:lnTo>
                  <a:pt x="7562424" y="5039488"/>
                </a:lnTo>
                <a:lnTo>
                  <a:pt x="0" y="5039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4096" y="1560663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2100" y="2258633"/>
            <a:ext cx="1496746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Streamlit-based Smart Irrigati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on Simulation: Sensor inputs via sliders and automated sprinkler ON/OFF predictions with visual indicators.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855334" y="2553730"/>
            <a:ext cx="5201710" cy="3784390"/>
          </a:xfrm>
          <a:custGeom>
            <a:avLst/>
            <a:gdLst/>
            <a:ahLst/>
            <a:cxnLst/>
            <a:rect r="r" b="b" t="t" l="l"/>
            <a:pathLst>
              <a:path h="3784390" w="5201710">
                <a:moveTo>
                  <a:pt x="0" y="0"/>
                </a:moveTo>
                <a:lnTo>
                  <a:pt x="5201709" y="0"/>
                </a:lnTo>
                <a:lnTo>
                  <a:pt x="5201709" y="3784389"/>
                </a:lnTo>
                <a:lnTo>
                  <a:pt x="0" y="3784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93560" y="2553730"/>
            <a:ext cx="5467904" cy="3784390"/>
          </a:xfrm>
          <a:custGeom>
            <a:avLst/>
            <a:gdLst/>
            <a:ahLst/>
            <a:cxnLst/>
            <a:rect r="r" b="b" t="t" l="l"/>
            <a:pathLst>
              <a:path h="3784390" w="5467904">
                <a:moveTo>
                  <a:pt x="0" y="0"/>
                </a:moveTo>
                <a:lnTo>
                  <a:pt x="5467904" y="0"/>
                </a:lnTo>
                <a:lnTo>
                  <a:pt x="5467904" y="3784389"/>
                </a:lnTo>
                <a:lnTo>
                  <a:pt x="0" y="3784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959626" y="6757219"/>
            <a:ext cx="6267887" cy="3145112"/>
          </a:xfrm>
          <a:custGeom>
            <a:avLst/>
            <a:gdLst/>
            <a:ahLst/>
            <a:cxnLst/>
            <a:rect r="r" b="b" t="t" l="l"/>
            <a:pathLst>
              <a:path h="3145112" w="6267887">
                <a:moveTo>
                  <a:pt x="0" y="0"/>
                </a:moveTo>
                <a:lnTo>
                  <a:pt x="6267886" y="0"/>
                </a:lnTo>
                <a:lnTo>
                  <a:pt x="6267886" y="3145112"/>
                </a:lnTo>
                <a:lnTo>
                  <a:pt x="0" y="314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811" r="0" b="-181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4096" y="1560663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883457" y="1400951"/>
            <a:ext cx="8393277" cy="4051958"/>
          </a:xfrm>
          <a:custGeom>
            <a:avLst/>
            <a:gdLst/>
            <a:ahLst/>
            <a:cxnLst/>
            <a:rect r="r" b="b" t="t" l="l"/>
            <a:pathLst>
              <a:path h="4051958" w="8393277">
                <a:moveTo>
                  <a:pt x="0" y="0"/>
                </a:moveTo>
                <a:lnTo>
                  <a:pt x="8393277" y="0"/>
                </a:lnTo>
                <a:lnTo>
                  <a:pt x="8393277" y="4051958"/>
                </a:lnTo>
                <a:lnTo>
                  <a:pt x="0" y="405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47" r="0" b="-544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52342" y="5755953"/>
            <a:ext cx="5270270" cy="3929045"/>
          </a:xfrm>
          <a:custGeom>
            <a:avLst/>
            <a:gdLst/>
            <a:ahLst/>
            <a:cxnLst/>
            <a:rect r="r" b="b" t="t" l="l"/>
            <a:pathLst>
              <a:path h="3929045" w="5270270">
                <a:moveTo>
                  <a:pt x="0" y="0"/>
                </a:moveTo>
                <a:lnTo>
                  <a:pt x="5270270" y="0"/>
                </a:lnTo>
                <a:lnTo>
                  <a:pt x="5270270" y="3929045"/>
                </a:lnTo>
                <a:lnTo>
                  <a:pt x="0" y="3929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82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57375" y="5755953"/>
            <a:ext cx="5622006" cy="3929045"/>
          </a:xfrm>
          <a:custGeom>
            <a:avLst/>
            <a:gdLst/>
            <a:ahLst/>
            <a:cxnLst/>
            <a:rect r="r" b="b" t="t" l="l"/>
            <a:pathLst>
              <a:path h="3929045" w="5622006">
                <a:moveTo>
                  <a:pt x="0" y="0"/>
                </a:moveTo>
                <a:lnTo>
                  <a:pt x="5622006" y="0"/>
                </a:lnTo>
                <a:lnTo>
                  <a:pt x="5622006" y="3929045"/>
                </a:lnTo>
                <a:lnTo>
                  <a:pt x="0" y="39290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240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4096" y="1560663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4096" y="2279249"/>
            <a:ext cx="688443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Sprinkle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 activation patterns over time showing ON/OFF status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for different parcel combinations.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144000" y="1992929"/>
            <a:ext cx="8665370" cy="3777109"/>
          </a:xfrm>
          <a:custGeom>
            <a:avLst/>
            <a:gdLst/>
            <a:ahLst/>
            <a:cxnLst/>
            <a:rect r="r" b="b" t="t" l="l"/>
            <a:pathLst>
              <a:path h="3777109" w="8665370">
                <a:moveTo>
                  <a:pt x="0" y="0"/>
                </a:moveTo>
                <a:lnTo>
                  <a:pt x="8665370" y="0"/>
                </a:lnTo>
                <a:lnTo>
                  <a:pt x="8665370" y="3777109"/>
                </a:lnTo>
                <a:lnTo>
                  <a:pt x="0" y="3777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354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6084363"/>
            <a:ext cx="8665370" cy="3497188"/>
          </a:xfrm>
          <a:custGeom>
            <a:avLst/>
            <a:gdLst/>
            <a:ahLst/>
            <a:cxnLst/>
            <a:rect r="r" b="b" t="t" l="l"/>
            <a:pathLst>
              <a:path h="3497188" w="8665370">
                <a:moveTo>
                  <a:pt x="0" y="0"/>
                </a:moveTo>
                <a:lnTo>
                  <a:pt x="8665370" y="0"/>
                </a:lnTo>
                <a:lnTo>
                  <a:pt x="8665370" y="3497188"/>
                </a:lnTo>
                <a:lnTo>
                  <a:pt x="0" y="3497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4096" y="1560663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4096" y="2382326"/>
            <a:ext cx="703230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ombined pump activity visualization showing ON/OFF status of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Parcel 0, 1, and 2 pumps over time.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109032" y="117003"/>
            <a:ext cx="2700338" cy="863271"/>
            <a:chOff x="0" y="0"/>
            <a:chExt cx="3600450" cy="1151028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7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048" y="-19050"/>
            <a:ext cx="14782800" cy="1114545"/>
            <a:chOff x="0" y="0"/>
            <a:chExt cx="19710400" cy="1486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5400" y="25400"/>
              <a:ext cx="19659600" cy="1435227"/>
            </a:xfrm>
            <a:custGeom>
              <a:avLst/>
              <a:gdLst/>
              <a:ahLst/>
              <a:cxnLst/>
              <a:rect r="r" b="b" t="t" l="l"/>
              <a:pathLst>
                <a:path h="1435227" w="19659600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10400" cy="1486027"/>
            </a:xfrm>
            <a:custGeom>
              <a:avLst/>
              <a:gdLst/>
              <a:ahLst/>
              <a:cxnLst/>
              <a:rect r="r" b="b" t="t" l="l"/>
              <a:pathLst>
                <a:path h="1486027" w="19710400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33450" y="-628"/>
            <a:ext cx="168424" cy="1098536"/>
            <a:chOff x="0" y="0"/>
            <a:chExt cx="224566" cy="1464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0" y="-19050"/>
            <a:ext cx="14758988" cy="1085852"/>
            <a:chOff x="0" y="0"/>
            <a:chExt cx="19678650" cy="1447802"/>
          </a:xfrm>
        </p:grpSpPr>
        <p:sp>
          <p:nvSpPr>
            <p:cNvPr name="Freeform 10" id="10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-213488" r="-1645" b="-549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887950" y="-628"/>
            <a:ext cx="400050" cy="1098536"/>
            <a:chOff x="0" y="0"/>
            <a:chExt cx="533400" cy="14647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15070" y="1461272"/>
            <a:ext cx="8971059" cy="57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Conclusion: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5647" y="2455772"/>
            <a:ext cx="13927693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oject Summary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Utilized a historical irrigation dataset with 20 sensor values and 3 sprinkler outputs (ON/OFF) for training.</a:t>
            </a:r>
          </a:p>
          <a:p>
            <a:pPr algn="just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Performed data preprocessing including dropping index/unnecessary columns and normalizing sensor values (0–1).</a:t>
            </a:r>
          </a:p>
          <a:p>
            <a:pPr algn="just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Trained a MultiOutput Random Forest Classifier to predict sprinkler ON/OFF decisions.</a:t>
            </a:r>
          </a:p>
          <a:p>
            <a:pPr algn="just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Developed a Streamlit-based simulation app allowing users to input sensor values and view automated irrigation predictions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Real-time sensor integration with IoT devices to automatically fetch live readings instead of manual slider input.</a:t>
            </a:r>
          </a:p>
          <a:p>
            <a:pPr algn="just" marL="388620" indent="-194310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Automatic sprinkler control for fully autonomous irrigation instead of just simulation-based predictions.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  <a:p>
            <a:pPr algn="just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DAGu5n4w9iw</dc:identifier>
  <dcterms:modified xsi:type="dcterms:W3CDTF">2011-08-01T06:04:30Z</dcterms:modified>
  <cp:revision>1</cp:revision>
  <dc:title>Week_3_Project_PPT_Template1.pptx</dc:title>
</cp:coreProperties>
</file>